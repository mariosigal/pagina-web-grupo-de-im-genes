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Helvetica Neue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HelveticaNeueLight-bold.fntdata"/><Relationship Id="rId10" Type="http://schemas.openxmlformats.org/officeDocument/2006/relationships/slide" Target="slides/slide5.xml"/><Relationship Id="rId21" Type="http://schemas.openxmlformats.org/officeDocument/2006/relationships/font" Target="fonts/HelveticaNeueLight-regular.fntdata"/><Relationship Id="rId13" Type="http://schemas.openxmlformats.org/officeDocument/2006/relationships/slide" Target="slides/slide8.xml"/><Relationship Id="rId24" Type="http://schemas.openxmlformats.org/officeDocument/2006/relationships/font" Target="fonts/HelveticaNeueLight-boldItalic.fntdata"/><Relationship Id="rId12" Type="http://schemas.openxmlformats.org/officeDocument/2006/relationships/slide" Target="slides/slide7.xml"/><Relationship Id="rId23" Type="http://schemas.openxmlformats.org/officeDocument/2006/relationships/font" Target="fonts/HelveticaNeue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57bbd4b19fa2ebf5_44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h57bbd4b19fa2ebf5_44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566aeec01f65705d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566aeec01f65705d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7bbd4b19fa2ebf5_2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57bbd4b19fa2ebf5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566aeec01f65705d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566aeec01f65705d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566aeec01f65705d_1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h566aeec01f65705d_1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66aeec01f65705d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h566aeec01f65705d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66aeec01f65705d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566aeec01f65705d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66aeec01f65705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566aeec01f65705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57bbd4b19fa2ebf5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57bbd4b19fa2ebf5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57bbd4b19fa2ebf5_44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h57bbd4b19fa2ebf5_44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471863"/>
            <a:ext cx="9144000" cy="1671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1149" y="946003"/>
            <a:ext cx="83271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4056"/>
              </a:buClr>
              <a:buSzPts val="2100"/>
              <a:buChar char="●"/>
              <a:defRPr>
                <a:solidFill>
                  <a:srgbClr val="004056"/>
                </a:solidFill>
              </a:defRPr>
            </a:lvl1pPr>
            <a:lvl2pPr indent="-36195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4056"/>
              </a:buClr>
              <a:buSzPts val="2100"/>
              <a:buChar char="○"/>
              <a:defRPr>
                <a:solidFill>
                  <a:srgbClr val="004056"/>
                </a:solidFill>
              </a:defRPr>
            </a:lvl2pPr>
            <a:lvl3pPr indent="-3619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4056"/>
              </a:buClr>
              <a:buSzPts val="2100"/>
              <a:buChar char="■"/>
              <a:defRPr>
                <a:solidFill>
                  <a:srgbClr val="004056"/>
                </a:solidFill>
              </a:defRPr>
            </a:lvl3pPr>
            <a:lvl4pPr indent="-36195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4056"/>
              </a:buClr>
              <a:buSzPts val="2100"/>
              <a:buChar char="●"/>
              <a:defRPr>
                <a:solidFill>
                  <a:srgbClr val="004056"/>
                </a:solidFill>
              </a:defRPr>
            </a:lvl4pPr>
            <a:lvl5pPr indent="-36195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4056"/>
              </a:buClr>
              <a:buSzPts val="2100"/>
              <a:buChar char="○"/>
              <a:defRPr>
                <a:solidFill>
                  <a:srgbClr val="004056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998" y="220757"/>
            <a:ext cx="1604962" cy="495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13"/>
          <p:cNvCxnSpPr/>
          <p:nvPr/>
        </p:nvCxnSpPr>
        <p:spPr>
          <a:xfrm>
            <a:off x="451149" y="798755"/>
            <a:ext cx="8327100" cy="0"/>
          </a:xfrm>
          <a:prstGeom prst="straightConnector1">
            <a:avLst/>
          </a:prstGeom>
          <a:noFill/>
          <a:ln cap="flat" cmpd="sng" w="9525">
            <a:solidFill>
              <a:srgbClr val="00405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13"/>
          <p:cNvSpPr txBox="1"/>
          <p:nvPr>
            <p:ph type="title"/>
          </p:nvPr>
        </p:nvSpPr>
        <p:spPr>
          <a:xfrm>
            <a:off x="2123349" y="272858"/>
            <a:ext cx="6654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  <a:defRPr b="1" sz="2700">
                <a:solidFill>
                  <a:srgbClr val="00405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0">
  <p:cSld name="TITLE_AND_BODY_10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3">
  <p:cSld name="TITLE_AND_BODY_1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1">
  <p:cSld name="TITLE_AND_BODY_1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cholar.google.es/citations?view_op=view_citation&amp;hl=es&amp;user=m-mTz2kAAAAJ&amp;citation_for_view=m-mTz2kAAAAJ:UeHWp8X0CEIC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gif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1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hyperlink" Target="http://drive.google.com/file/d/1ji7VDQqNBjR39lZaVyAQq9O_FN7EILSJ/view" TargetMode="External"/><Relationship Id="rId5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idx="4294967295" type="body"/>
          </p:nvPr>
        </p:nvSpPr>
        <p:spPr>
          <a:xfrm>
            <a:off x="2416650" y="1947150"/>
            <a:ext cx="43107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en-GB" sz="1525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Doctorando</a:t>
            </a:r>
            <a:r>
              <a:rPr lang="en-GB" sz="1525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n-GB" sz="1525">
                <a:latin typeface="Helvetica Neue"/>
                <a:ea typeface="Helvetica Neue"/>
                <a:cs typeface="Helvetica Neue"/>
                <a:sym typeface="Helvetica Neue"/>
              </a:rPr>
              <a:t> Nicolas Mastropasqua</a:t>
            </a:r>
            <a:endParaRPr sz="1525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7800" lvl="0" marL="17780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75"/>
              <a:buNone/>
            </a:pPr>
            <a:r>
              <a:rPr lang="en-GB" sz="1525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Director</a:t>
            </a:r>
            <a:r>
              <a:rPr lang="en-GB" sz="1525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n-GB" sz="1525">
                <a:latin typeface="Helvetica Neue"/>
                <a:ea typeface="Helvetica Neue"/>
                <a:cs typeface="Helvetica Neue"/>
                <a:sym typeface="Helvetica Neue"/>
              </a:rPr>
              <a:t> Prof. Daniel Acevedo</a:t>
            </a:r>
            <a:endParaRPr sz="1325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20"/>
          <p:cNvSpPr txBox="1"/>
          <p:nvPr>
            <p:ph idx="4294967295" type="title"/>
          </p:nvPr>
        </p:nvSpPr>
        <p:spPr>
          <a:xfrm>
            <a:off x="492450" y="851000"/>
            <a:ext cx="77943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Helvetica Neue"/>
              <a:buNone/>
            </a:pPr>
            <a:r>
              <a:rPr b="1" lang="en-GB" sz="2000">
                <a:solidFill>
                  <a:srgbClr val="0040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Neuromorphic Approaches for Energy Efficient Face Analysis </a:t>
            </a:r>
            <a:endParaRPr b="1" sz="2000">
              <a:solidFill>
                <a:srgbClr val="00405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90"/>
              <a:buFont typeface="Helvetica Neue"/>
              <a:buNone/>
            </a:pPr>
            <a:r>
              <a:t/>
            </a:r>
            <a:endParaRPr b="1" sz="2000">
              <a:solidFill>
                <a:srgbClr val="00405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6" name="Google Shape;86;p20" title="Logo_de_la_Universidad_de_Buenos_Air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5975" y="3704150"/>
            <a:ext cx="1292599" cy="1295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20"/>
          <p:cNvGrpSpPr/>
          <p:nvPr/>
        </p:nvGrpSpPr>
        <p:grpSpPr>
          <a:xfrm>
            <a:off x="148261" y="4084323"/>
            <a:ext cx="2623501" cy="696519"/>
            <a:chOff x="6160530" y="118881"/>
            <a:chExt cx="2216731" cy="588525"/>
          </a:xfrm>
        </p:grpSpPr>
        <p:pic>
          <p:nvPicPr>
            <p:cNvPr id="88" name="Google Shape;88;p20"/>
            <p:cNvPicPr preferRelativeResize="0"/>
            <p:nvPr/>
          </p:nvPicPr>
          <p:blipFill rotWithShape="1">
            <a:blip r:embed="rId4">
              <a:alphaModFix/>
            </a:blip>
            <a:srcRect b="0" l="0" r="45634" t="0"/>
            <a:stretch/>
          </p:blipFill>
          <p:spPr>
            <a:xfrm>
              <a:off x="6160530" y="169281"/>
              <a:ext cx="1081451" cy="487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20" title="Conicet_Logo_con_letras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50587" y="118881"/>
              <a:ext cx="1026673" cy="588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20"/>
          <p:cNvSpPr txBox="1"/>
          <p:nvPr/>
        </p:nvSpPr>
        <p:spPr>
          <a:xfrm>
            <a:off x="1805700" y="3043288"/>
            <a:ext cx="5532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 de Buenos Aires, Facultad de Ciencias Exactas y Naturales,</a:t>
            </a:r>
            <a:endParaRPr i="1"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7800" lvl="0" marL="1778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Departamento de Computación</a:t>
            </a:r>
            <a:endParaRPr sz="1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Gemini_Generated_Image_y8duqjy8duqjy8du.jpeg"/>
          <p:cNvPicPr preferRelativeResize="0"/>
          <p:nvPr/>
        </p:nvPicPr>
        <p:blipFill rotWithShape="1">
          <a:blip r:embed="rId3">
            <a:alphaModFix/>
          </a:blip>
          <a:srcRect b="9690" l="0" r="0" t="0"/>
          <a:stretch/>
        </p:blipFill>
        <p:spPr>
          <a:xfrm>
            <a:off x="210300" y="848475"/>
            <a:ext cx="8419400" cy="4370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1"/>
          <p:cNvSpPr txBox="1"/>
          <p:nvPr/>
        </p:nvSpPr>
        <p:spPr>
          <a:xfrm>
            <a:off x="530823" y="1269200"/>
            <a:ext cx="249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Face Analysis</a:t>
            </a:r>
            <a:endParaRPr sz="2800"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21"/>
          <p:cNvSpPr txBox="1"/>
          <p:nvPr/>
        </p:nvSpPr>
        <p:spPr>
          <a:xfrm>
            <a:off x="5582150" y="1269200"/>
            <a:ext cx="329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Liveness detection</a:t>
            </a:r>
            <a:endParaRPr sz="2800"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1"/>
          <p:cNvSpPr txBox="1"/>
          <p:nvPr/>
        </p:nvSpPr>
        <p:spPr>
          <a:xfrm>
            <a:off x="3448638" y="2717875"/>
            <a:ext cx="2246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Eye-tracking</a:t>
            </a:r>
            <a:endParaRPr sz="2900"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261075" y="275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Overview</a:t>
            </a:r>
            <a:endParaRPr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/>
        </p:nvSpPr>
        <p:spPr>
          <a:xfrm>
            <a:off x="691400" y="2974675"/>
            <a:ext cx="3445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Facial Expression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Recognition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2"/>
          <p:cNvSpPr txBox="1"/>
          <p:nvPr/>
        </p:nvSpPr>
        <p:spPr>
          <a:xfrm>
            <a:off x="5452600" y="2974675"/>
            <a:ext cx="2572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Event </a:t>
            </a: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Cameras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3936250" y="1786800"/>
            <a:ext cx="91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90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7" name="Google Shape;107;p22" title="Gemini_Generated_Image_y8duqjy8duqjy8du.jpeg"/>
          <p:cNvPicPr preferRelativeResize="0"/>
          <p:nvPr/>
        </p:nvPicPr>
        <p:blipFill rotWithShape="1">
          <a:blip r:embed="rId3">
            <a:alphaModFix/>
          </a:blip>
          <a:srcRect b="41737" l="0" r="66299" t="15976"/>
          <a:stretch/>
        </p:blipFill>
        <p:spPr>
          <a:xfrm>
            <a:off x="691400" y="1029075"/>
            <a:ext cx="2837402" cy="20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2" title="Prophesee-event-camera-EVK4-HD-schema-1-r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7" y="1129575"/>
            <a:ext cx="2166851" cy="184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aasdsa.png"/>
          <p:cNvPicPr preferRelativeResize="0"/>
          <p:nvPr/>
        </p:nvPicPr>
        <p:blipFill rotWithShape="1">
          <a:blip r:embed="rId3">
            <a:alphaModFix/>
          </a:blip>
          <a:srcRect b="-1892" l="0" r="0" t="-10040"/>
          <a:stretch/>
        </p:blipFill>
        <p:spPr>
          <a:xfrm>
            <a:off x="816388" y="1629545"/>
            <a:ext cx="3738342" cy="27909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 multimodal (eventos + RGB)</a:t>
            </a:r>
            <a:endParaRPr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236375" y="4732000"/>
            <a:ext cx="923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04056"/>
                </a:solidFill>
                <a:highlight>
                  <a:srgbClr val="FFFFFF"/>
                </a:highlight>
              </a:rPr>
              <a:t>Mastropasqua, N.</a:t>
            </a:r>
            <a:r>
              <a:rPr lang="en-GB" sz="800">
                <a:solidFill>
                  <a:srgbClr val="004056"/>
                </a:solidFill>
                <a:highlight>
                  <a:srgbClr val="FFFFFF"/>
                </a:highlight>
              </a:rPr>
              <a:t>, Bugueno-Cordova, I., Verschae, R., Acevedo, D., Negri, P., &amp; Buemi, M. E. (2025). Exploring spatial-temporal dynamics in event-based facial micro-expression analysis.</a:t>
            </a:r>
            <a:endParaRPr sz="800">
              <a:solidFill>
                <a:srgbClr val="00405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6" name="Google Shape;116;p23" title="Screenshot from 2025-11-30 09-54-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5350" y="1533150"/>
            <a:ext cx="2636873" cy="2192432"/>
          </a:xfrm>
          <a:prstGeom prst="rect">
            <a:avLst/>
          </a:prstGeom>
          <a:noFill/>
          <a:ln>
            <a:noFill/>
          </a:ln>
          <a:effectLst>
            <a:outerShdw blurRad="37059" rotWithShape="0" algn="bl" dir="5400000" dist="12353">
              <a:srgbClr val="000000">
                <a:alpha val="50000"/>
              </a:srgbClr>
            </a:outerShdw>
          </a:effectLst>
        </p:spPr>
      </p:pic>
      <p:pic>
        <p:nvPicPr>
          <p:cNvPr id="117" name="Google Shape;117;p23" title="Screenshot from 2025-11-30 22-54-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735" y="3434938"/>
            <a:ext cx="2636877" cy="1297057"/>
          </a:xfrm>
          <a:prstGeom prst="rect">
            <a:avLst/>
          </a:prstGeom>
          <a:noFill/>
          <a:ln>
            <a:noFill/>
          </a:ln>
          <a:effectLst>
            <a:outerShdw blurRad="37059" rotWithShape="0" algn="bl" dir="5400000" dist="12353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/>
        </p:nvSpPr>
        <p:spPr>
          <a:xfrm>
            <a:off x="691400" y="2974675"/>
            <a:ext cx="3445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Face Liveness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Recognition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5616775" y="2974675"/>
            <a:ext cx="2684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Event </a:t>
            </a: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Cameras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24"/>
          <p:cNvSpPr txBox="1"/>
          <p:nvPr/>
        </p:nvSpPr>
        <p:spPr>
          <a:xfrm>
            <a:off x="3936250" y="1786800"/>
            <a:ext cx="91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90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5" name="Google Shape;125;p24" title="Gemini_Generated_Image_y8duqjy8duqjy8du.jpeg"/>
          <p:cNvPicPr preferRelativeResize="0"/>
          <p:nvPr/>
        </p:nvPicPr>
        <p:blipFill rotWithShape="1">
          <a:blip r:embed="rId3">
            <a:alphaModFix/>
          </a:blip>
          <a:srcRect b="39225" l="66299" r="0" t="18488"/>
          <a:stretch/>
        </p:blipFill>
        <p:spPr>
          <a:xfrm>
            <a:off x="497500" y="1091525"/>
            <a:ext cx="2837402" cy="20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4" title="Prophesee-event-camera-EVK4-HD-schema-1-r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777" y="1129575"/>
            <a:ext cx="2166851" cy="184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Face liveness detection p</a:t>
            </a: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ipeline</a:t>
            </a:r>
            <a:endParaRPr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02675" y="4747125"/>
            <a:ext cx="923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004056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Mastropasqua, N.,</a:t>
            </a:r>
            <a:r>
              <a:rPr lang="en-GB" sz="800">
                <a:solidFill>
                  <a:srgbClr val="004056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Bugueno-Cordova, I., Verschae, R., Acevedo, D., Negri, P. (2026). </a:t>
            </a:r>
            <a:r>
              <a:rPr lang="en-GB" sz="8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Event-based Liveness Detection using Temporal Ocular Dynamics: An Exploratory Approach</a:t>
            </a:r>
            <a:endParaRPr sz="800">
              <a:solidFill>
                <a:srgbClr val="00405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3" name="Google Shape;133;p25" title="pipeline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676" y="1733501"/>
            <a:ext cx="4955049" cy="960500"/>
          </a:xfrm>
          <a:prstGeom prst="rect">
            <a:avLst/>
          </a:prstGeom>
          <a:noFill/>
          <a:ln>
            <a:noFill/>
          </a:ln>
          <a:effectLst>
            <a:outerShdw blurRad="42462" rotWithShape="0" algn="bl" dir="5400000" dist="14154">
              <a:srgbClr val="000000">
                <a:alpha val="50000"/>
              </a:srgbClr>
            </a:outerShdw>
          </a:effectLst>
        </p:spPr>
      </p:pic>
      <p:pic>
        <p:nvPicPr>
          <p:cNvPr id="134" name="Google Shape;134;p25" title="table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558" y="3166997"/>
            <a:ext cx="7422966" cy="9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1712025" y="4127500"/>
            <a:ext cx="673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Helvetica Neue Light"/>
                <a:ea typeface="Helvetica Neue Light"/>
                <a:cs typeface="Helvetica Neue Light"/>
                <a:sym typeface="Helvetica Neue Light"/>
              </a:rPr>
              <a:t>Resultados para face liveness </a:t>
            </a:r>
            <a:r>
              <a:rPr i="1" lang="en-GB">
                <a:latin typeface="Helvetica Neue Light"/>
                <a:ea typeface="Helvetica Neue Light"/>
                <a:cs typeface="Helvetica Neue Light"/>
                <a:sym typeface="Helvetica Neue Light"/>
              </a:rPr>
              <a:t>detection</a:t>
            </a:r>
            <a:r>
              <a:rPr i="1" lang="en-GB">
                <a:latin typeface="Helvetica Neue Light"/>
                <a:ea typeface="Helvetica Neue Light"/>
                <a:cs typeface="Helvetica Neue Light"/>
                <a:sym typeface="Helvetica Neue Light"/>
              </a:rPr>
              <a:t>,  train/val split 80:20.</a:t>
            </a:r>
            <a:endParaRPr i="1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36" name="Google Shape;136;p25" title="setu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8165" y="986425"/>
            <a:ext cx="3046741" cy="199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1110238" y="3116550"/>
            <a:ext cx="2328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Eye tracking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993700" y="3055750"/>
            <a:ext cx="3150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Event </a:t>
            </a:r>
            <a:r>
              <a:rPr lang="en-GB" sz="29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Cameras</a:t>
            </a:r>
            <a:endParaRPr sz="29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3936250" y="1786800"/>
            <a:ext cx="915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0">
                <a:solidFill>
                  <a:srgbClr val="1072BD"/>
                </a:solidFill>
                <a:latin typeface="Cambria"/>
                <a:ea typeface="Cambria"/>
                <a:cs typeface="Cambria"/>
                <a:sym typeface="Cambria"/>
              </a:rPr>
              <a:t>+</a:t>
            </a:r>
            <a:endParaRPr sz="9000">
              <a:solidFill>
                <a:srgbClr val="1072B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4" name="Google Shape;144;p26" title="Gemini_Generated_Image_y8duqjy8duqjy8du.jpeg"/>
          <p:cNvPicPr preferRelativeResize="0"/>
          <p:nvPr/>
        </p:nvPicPr>
        <p:blipFill rotWithShape="1">
          <a:blip r:embed="rId3">
            <a:alphaModFix/>
          </a:blip>
          <a:srcRect b="2090" l="32184" r="32184" t="42625"/>
          <a:stretch/>
        </p:blipFill>
        <p:spPr>
          <a:xfrm>
            <a:off x="731625" y="891438"/>
            <a:ext cx="2603274" cy="2321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 title="Prophesee-event-camera-EVK4-HD-schema-1-r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302" y="1129575"/>
            <a:ext cx="2166851" cy="184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idx="4294967295" type="body"/>
          </p:nvPr>
        </p:nvSpPr>
        <p:spPr>
          <a:xfrm>
            <a:off x="7272150" y="1150775"/>
            <a:ext cx="1527600" cy="369300"/>
          </a:xfrm>
          <a:prstGeom prst="rect">
            <a:avLst/>
          </a:prstGeom>
        </p:spPr>
        <p:txBody>
          <a:bodyPr anchorCtr="0" anchor="t" bIns="73825" lIns="73825" spcFirstLastPara="1" rIns="73825" wrap="square" tIns="7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69"/>
              </a:spcAft>
              <a:buNone/>
            </a:pPr>
            <a:r>
              <a:rPr lang="en-GB" sz="1177">
                <a:solidFill>
                  <a:srgbClr val="1072B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Nicolas Carrasco, becario BIICC</a:t>
            </a:r>
            <a:endParaRPr sz="1177">
              <a:solidFill>
                <a:srgbClr val="1072B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1" name="Google Shape;151;p27" title="pupil_fi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445975"/>
            <a:ext cx="28575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Frequency </a:t>
            </a: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Pupil tracking (demo)</a:t>
            </a:r>
            <a:endParaRPr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1527450" y="4381125"/>
            <a:ext cx="60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N. Carrasco, </a:t>
            </a:r>
            <a:r>
              <a:rPr i="1" lang="en-GB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N. Mastropasqu</a:t>
            </a:r>
            <a:r>
              <a:rPr lang="en-GB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a,</a:t>
            </a:r>
            <a:r>
              <a:rPr i="1" lang="en-GB" sz="1200">
                <a:latin typeface="Helvetica Neue Light"/>
                <a:ea typeface="Helvetica Neue Light"/>
                <a:cs typeface="Helvetica Neue Light"/>
                <a:sym typeface="Helvetica Neue Light"/>
              </a:rPr>
              <a:t> D. Acevedo “High frequency event-based eye tracking”</a:t>
            </a:r>
            <a:endParaRPr i="1" sz="12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4" name="Google Shape;154;p27" title="foto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6550" y="311975"/>
            <a:ext cx="838800" cy="838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033600" y="2240100"/>
            <a:ext cx="30768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b="1" lang="en-GB">
                <a:solidFill>
                  <a:srgbClr val="0040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Otros</a:t>
            </a:r>
            <a:r>
              <a:rPr b="1" lang="en-GB">
                <a:solidFill>
                  <a:srgbClr val="00405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proyectos</a:t>
            </a:r>
            <a:endParaRPr b="1">
              <a:solidFill>
                <a:srgbClr val="00405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 title="broncho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754" y="2080962"/>
            <a:ext cx="3646485" cy="260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VideoBroncho </a:t>
            </a: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753275" y="1372950"/>
            <a:ext cx="801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Presentamos un dataset con video broncoscopias etiquetando las posiciones anatómicas durante la navegación</a:t>
            </a:r>
            <a:endParaRPr sz="1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7" name="Google Shape;167;p29" title="image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137" y="262675"/>
            <a:ext cx="828000" cy="828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8" name="Google Shape;168;p29" title="VivianaCotik-min.jpg"/>
          <p:cNvPicPr preferRelativeResize="0"/>
          <p:nvPr/>
        </p:nvPicPr>
        <p:blipFill rotWithShape="1">
          <a:blip r:embed="rId5">
            <a:alphaModFix/>
          </a:blip>
          <a:srcRect b="0" l="22246" r="0" t="0"/>
          <a:stretch/>
        </p:blipFill>
        <p:spPr>
          <a:xfrm>
            <a:off x="7375763" y="251875"/>
            <a:ext cx="838800" cy="838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69" name="Google Shape;169;p29" title="imageas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7663" y="251875"/>
            <a:ext cx="838800" cy="838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0" name="Google Shape;170;p29"/>
          <p:cNvSpPr txBox="1"/>
          <p:nvPr/>
        </p:nvSpPr>
        <p:spPr>
          <a:xfrm>
            <a:off x="410375" y="4754575"/>
            <a:ext cx="92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Tarsia, L., Mastropasqua, N., Bisso, I. C., Heras, M. L., Burgos, V., Risk, M., ... &amp; Cotik, V. AI-Assisted Bronchoscopy in the Intensive Care Unit: Corpus Development and an Application to Anatomic Position Identification.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29"/>
          <p:cNvSpPr txBox="1"/>
          <p:nvPr>
            <p:ph idx="4294967295" type="body"/>
          </p:nvPr>
        </p:nvSpPr>
        <p:spPr>
          <a:xfrm>
            <a:off x="6936900" y="1090675"/>
            <a:ext cx="1895400" cy="336600"/>
          </a:xfrm>
          <a:prstGeom prst="rect">
            <a:avLst/>
          </a:prstGeom>
        </p:spPr>
        <p:txBody>
          <a:bodyPr anchorCtr="0" anchor="t" bIns="73825" lIns="73825" spcFirstLastPara="1" rIns="73825" wrap="square" tIns="7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69"/>
              </a:spcAft>
              <a:buNone/>
            </a:pPr>
            <a:r>
              <a:rPr lang="en-GB" sz="977">
                <a:solidFill>
                  <a:srgbClr val="1072B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Tesis de Luciano Tarsia, dirigida por Viviana Cotik </a:t>
            </a:r>
            <a:endParaRPr sz="977">
              <a:solidFill>
                <a:srgbClr val="1072B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834575" y="4331825"/>
            <a:ext cx="80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Identificación de segmentos bronquiales con modelos espacio-temporales</a:t>
            </a:r>
            <a:endParaRPr sz="18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056"/>
              </a:buClr>
              <a:buSzPts val="2700"/>
              <a:buFont typeface="Helvetica Neue"/>
              <a:buNone/>
            </a:pPr>
            <a:r>
              <a:rPr lang="en-GB">
                <a:solidFill>
                  <a:srgbClr val="1072B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Navegación broncoscópica</a:t>
            </a:r>
            <a:endParaRPr>
              <a:solidFill>
                <a:srgbClr val="1072B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30"/>
          <p:cNvSpPr txBox="1"/>
          <p:nvPr>
            <p:ph idx="4294967295" type="body"/>
          </p:nvPr>
        </p:nvSpPr>
        <p:spPr>
          <a:xfrm>
            <a:off x="7106675" y="1093625"/>
            <a:ext cx="1895400" cy="336600"/>
          </a:xfrm>
          <a:prstGeom prst="rect">
            <a:avLst/>
          </a:prstGeom>
        </p:spPr>
        <p:txBody>
          <a:bodyPr anchorCtr="0" anchor="t" bIns="73825" lIns="73825" spcFirstLastPara="1" rIns="73825" wrap="square" tIns="73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969"/>
              </a:spcAft>
              <a:buNone/>
            </a:pPr>
            <a:r>
              <a:rPr lang="en-GB" sz="977">
                <a:solidFill>
                  <a:srgbClr val="1072B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Jorge Szabo, becario BIICC</a:t>
            </a:r>
            <a:endParaRPr sz="977">
              <a:solidFill>
                <a:srgbClr val="1072BD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79" name="Google Shape;179;p30" title="foto9.jpg"/>
          <p:cNvPicPr preferRelativeResize="0"/>
          <p:nvPr/>
        </p:nvPicPr>
        <p:blipFill rotWithShape="1">
          <a:blip r:embed="rId3">
            <a:alphaModFix/>
          </a:blip>
          <a:srcRect b="44056" l="22025" r="26968" t="13546"/>
          <a:stretch/>
        </p:blipFill>
        <p:spPr>
          <a:xfrm>
            <a:off x="7711475" y="445025"/>
            <a:ext cx="685800" cy="648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0" name="Google Shape;180;p30" title="showcas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9950" y="1215800"/>
            <a:ext cx="5328312" cy="29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